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ndara" panose="020E050203030302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364726-3CB2-49F7-9EB5-E1A4321999D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14A703-F679-4647-B96F-B2914C61E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20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14A703-F679-4647-B96F-B2914C61E68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83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419725"/>
            <a:ext cx="10972800" cy="904875"/>
          </a:xfrm>
          <a:prstGeom prst="roundRect">
            <a:avLst>
              <a:gd name="adj" fmla="val 1684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9610725" y="5691187"/>
            <a:ext cx="1657350" cy="361950"/>
          </a:xfrm>
          <a:prstGeom prst="roundRect">
            <a:avLst>
              <a:gd name="adj" fmla="val 26315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600" y="533400"/>
            <a:ext cx="3382296" cy="261938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57525" y="5700712"/>
            <a:ext cx="9525" cy="3429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29300" y="5700712"/>
            <a:ext cx="9525" cy="3429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175" y="5815012"/>
            <a:ext cx="152400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009650"/>
            <a:ext cx="9901237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>
                <a:solidFill>
                  <a:srgbClr val="FFFFFF"/>
                </a:solidFill>
                <a:latin typeface="Candara" panose="020E0502030303020204" pitchFamily="34" charset="0"/>
              </a:rPr>
              <a:t>Mapping Pathways for Health, Environment, and Climate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99" y="2213371"/>
            <a:ext cx="8436077" cy="1156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Candara" panose="020E0502030303020204" pitchFamily="34" charset="0"/>
              </a:rPr>
              <a:t>Multi-Indicator Environmental Exposure Hotspot Analysis of Kano State using </a:t>
            </a:r>
            <a:r>
              <a:rPr lang="en-US" sz="1500" dirty="0">
                <a:solidFill>
                  <a:srgbClr val="94A3B8"/>
                </a:solidFill>
                <a:latin typeface="Candara" panose="020E0502030303020204" pitchFamily="34" charset="0"/>
              </a:rPr>
              <a:t>satellite observations from August 2026 with </a:t>
            </a:r>
            <a:r>
              <a:rPr sz="1500" b="0" i="0" u="none" dirty="0">
                <a:solidFill>
                  <a:srgbClr val="94A3B8"/>
                </a:solidFill>
                <a:latin typeface="Candara" panose="020E0502030303020204" pitchFamily="34" charset="0"/>
              </a:rPr>
              <a:t>Google Earth Engine &amp; QGIS</a:t>
            </a:r>
            <a:r>
              <a:rPr lang="en-US" sz="1500" dirty="0">
                <a:solidFill>
                  <a:srgbClr val="94A3B8"/>
                </a:solidFill>
                <a:latin typeface="Candara" panose="020E0502030303020204" pitchFamily="34" charset="0"/>
              </a:rPr>
              <a:t>: “Where </a:t>
            </a:r>
            <a:r>
              <a:rPr lang="en-US" sz="1500" b="0" i="0" u="none" dirty="0">
                <a:solidFill>
                  <a:srgbClr val="94A3B8"/>
                </a:solidFill>
                <a:latin typeface="Candara" panose="020E0502030303020204" pitchFamily="34" charset="0"/>
              </a:rPr>
              <a:t>heat and atmospheric pollution indicators overlap”</a:t>
            </a:r>
          </a:p>
          <a:p>
            <a:pPr algn="l">
              <a:lnSpc>
                <a:spcPts val="2250"/>
              </a:lnSpc>
            </a:pPr>
            <a:endParaRPr sz="1500" b="0" i="0" u="none" dirty="0">
              <a:solidFill>
                <a:srgbClr val="94A3B8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2949" y="590550"/>
            <a:ext cx="3248947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FFFFFF"/>
                </a:solidFill>
                <a:latin typeface="Candara" panose="020E0502030303020204" pitchFamily="34" charset="0"/>
              </a:rPr>
              <a:t>DSN AI BOOTCAMP </a:t>
            </a:r>
            <a:r>
              <a:rPr lang="en-US" sz="1050" b="1" dirty="0">
                <a:solidFill>
                  <a:srgbClr val="FFFFFF"/>
                </a:solidFill>
                <a:latin typeface="Candara" panose="020E0502030303020204" pitchFamily="34" charset="0"/>
              </a:rPr>
              <a:t>PRE QUALIFICATION PROJECT </a:t>
            </a:r>
            <a:r>
              <a:rPr sz="1050" b="1" i="0" u="none" dirty="0">
                <a:solidFill>
                  <a:srgbClr val="FFFFFF"/>
                </a:solidFill>
                <a:latin typeface="Candara" panose="020E0502030303020204" pitchFamily="34" charset="0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5657850"/>
            <a:ext cx="117019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Candara" panose="020E0502030303020204" pitchFamily="34" charset="0"/>
              </a:rPr>
              <a:t>PARTICIPANT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9950" y="5657850"/>
            <a:ext cx="91371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Candara" panose="020E0502030303020204" pitchFamily="34" charset="0"/>
              </a:rPr>
              <a:t>COMMUNITY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9950" y="5867400"/>
            <a:ext cx="167674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Candara" panose="020E0502030303020204" pitchFamily="34" charset="0"/>
              </a:rPr>
              <a:t>DSN/AIPlus/2025/45616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725" y="5657850"/>
            <a:ext cx="95378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Candara" panose="020E0502030303020204" pitchFamily="34" charset="0"/>
              </a:rPr>
              <a:t>EMAIL ADDRESS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05A6B7-A080-9B36-ECBA-1A156358B647}"/>
              </a:ext>
            </a:extLst>
          </p:cNvPr>
          <p:cNvSpPr txBox="1"/>
          <p:nvPr/>
        </p:nvSpPr>
        <p:spPr>
          <a:xfrm>
            <a:off x="923925" y="5867400"/>
            <a:ext cx="186333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50" b="1" dirty="0">
                <a:solidFill>
                  <a:srgbClr val="F8FAFC"/>
                </a:solidFill>
                <a:latin typeface="Candara" panose="020E0502030303020204" pitchFamily="34" charset="0"/>
              </a:rPr>
              <a:t>ABDULBASIT SULAYMAN</a:t>
            </a:r>
            <a:endParaRPr sz="1350" b="1" i="0" u="none" dirty="0">
              <a:solidFill>
                <a:srgbClr val="F8FAFC"/>
              </a:solidFill>
              <a:latin typeface="Candara" panose="020E0502030303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CB2756-82FC-F023-4FE6-8EC999DBA81F}"/>
              </a:ext>
            </a:extLst>
          </p:cNvPr>
          <p:cNvSpPr txBox="1"/>
          <p:nvPr/>
        </p:nvSpPr>
        <p:spPr>
          <a:xfrm>
            <a:off x="6181725" y="5867400"/>
            <a:ext cx="228588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50" b="1" dirty="0">
                <a:solidFill>
                  <a:srgbClr val="F8FAFC"/>
                </a:solidFill>
                <a:latin typeface="Candara" panose="020E0502030303020204" pitchFamily="34" charset="0"/>
              </a:rPr>
              <a:t>abdulbasitolokuta@</a:t>
            </a:r>
            <a:r>
              <a:rPr sz="1350" b="1" i="0" u="none" dirty="0">
                <a:solidFill>
                  <a:srgbClr val="F8FAFC"/>
                </a:solidFill>
                <a:latin typeface="Candara" panose="020E0502030303020204" pitchFamily="34" charset="0"/>
              </a:rPr>
              <a:t>gmail.com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7C21A7-AFF4-CA98-09A6-7595BDE79304}"/>
              </a:ext>
            </a:extLst>
          </p:cNvPr>
          <p:cNvSpPr txBox="1"/>
          <p:nvPr/>
        </p:nvSpPr>
        <p:spPr>
          <a:xfrm>
            <a:off x="9978821" y="5786437"/>
            <a:ext cx="14097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u="none" dirty="0">
                <a:solidFill>
                  <a:srgbClr val="FFFFFF"/>
                </a:solidFill>
                <a:latin typeface="Candara" panose="020E0502030303020204" pitchFamily="34" charset="0"/>
              </a:rPr>
              <a:t>Geospatial Track</a:t>
            </a:r>
            <a:endParaRPr sz="1050" b="1" i="0" u="none" dirty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5259"/>
            <a:ext cx="3479750" cy="2676525"/>
          </a:xfrm>
          <a:prstGeom prst="roundRect">
            <a:avLst>
              <a:gd name="adj" fmla="val 56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56050" y="2985259"/>
            <a:ext cx="3479750" cy="2676525"/>
          </a:xfrm>
          <a:prstGeom prst="roundRect">
            <a:avLst>
              <a:gd name="adj" fmla="val 56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102500" y="2985259"/>
            <a:ext cx="3479750" cy="2676525"/>
          </a:xfrm>
          <a:prstGeom prst="roundRect">
            <a:avLst>
              <a:gd name="adj" fmla="val 56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99584"/>
            <a:ext cx="49530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375" y="3299584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825" y="3299584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512" y="3442459"/>
            <a:ext cx="2381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4675" y="3442459"/>
            <a:ext cx="26670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5413" y="3442459"/>
            <a:ext cx="2381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2829301" cy="3601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ndara" panose="020E0502030303020204" pitchFamily="34" charset="0"/>
              </a:rPr>
              <a:t>1. 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15048"/>
            <a:ext cx="471500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64748B"/>
                </a:solidFill>
                <a:latin typeface="Candara" panose="020E0502030303020204" pitchFamily="34" charset="0"/>
              </a:rPr>
              <a:t>Environmental Stressors &amp; Population Vulnerability in Kano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985384"/>
            <a:ext cx="165750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Candara" panose="020E0502030303020204" pitchFamily="34" charset="0"/>
              </a:rPr>
              <a:t>Thermal Heat Stress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318759"/>
            <a:ext cx="2946350" cy="751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Candara" panose="020E0502030303020204" pitchFamily="34" charset="0"/>
              </a:rPr>
              <a:t>Elevated Land Surface Temperature (LST) creates acute localized urban heat islands across Kano State.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0375" y="3985384"/>
            <a:ext cx="193963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Candara" panose="020E0502030303020204" pitchFamily="34" charset="0"/>
              </a:rPr>
              <a:t>Atmospheric Pollutants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0375" y="4318759"/>
            <a:ext cx="2946350" cy="751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Candara" panose="020E0502030303020204" pitchFamily="34" charset="0"/>
              </a:rPr>
              <a:t>Toxic trace gas concentrations including Carbon Monoxide (CO) and Nitrogen Dioxide (NO₂) impact air quality.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6825" y="3985384"/>
            <a:ext cx="196207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Candara" panose="020E0502030303020204" pitchFamily="34" charset="0"/>
              </a:rPr>
              <a:t>Compound Overlap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6825" y="4318759"/>
            <a:ext cx="2946350" cy="751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Candara" panose="020E0502030303020204" pitchFamily="34" charset="0"/>
              </a:rPr>
              <a:t>Indicators are non-uniformly distributed; isolated analysis misses compounding environmental exposure risks.</a:t>
            </a:r>
          </a:p>
        </p:txBody>
      </p:sp>
      <p:sp>
        <p:nvSpPr>
          <p:cNvPr id="20" name="Rounded Rectangle 1">
            <a:extLst>
              <a:ext uri="{FF2B5EF4-FFF2-40B4-BE49-F238E27FC236}">
                <a16:creationId xmlns:a16="http://schemas.microsoft.com/office/drawing/2014/main" id="{148E8C13-FD3C-41C4-69E6-A4095A202E5B}"/>
              </a:ext>
            </a:extLst>
          </p:cNvPr>
          <p:cNvSpPr/>
          <p:nvPr/>
        </p:nvSpPr>
        <p:spPr>
          <a:xfrm>
            <a:off x="609600" y="1304966"/>
            <a:ext cx="10972650" cy="1206667"/>
          </a:xfrm>
          <a:prstGeom prst="roundRect">
            <a:avLst>
              <a:gd name="adj" fmla="val 56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dirty="0">
                <a:solidFill>
                  <a:schemeClr val="tx1"/>
                </a:solidFill>
                <a:latin typeface="Candara" panose="020E0502030303020204" pitchFamily="34" charset="0"/>
              </a:rPr>
              <a:t>Kano State experiences environmental conditions that can affect human wellbeing, including elevated land surface temperatures and exposure to atmospheric pollutants such as carbon monoxide (CO) and nitrogen dioxide (NO₂). However, these environmental indicators are not uniformly distributed across the state, making spatial mapping useful for identifying areas where multiple environmental stressors overlap.</a:t>
            </a:r>
            <a:endParaRPr sz="1600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613445"/>
            <a:ext cx="10972800" cy="4711154"/>
          </a:xfrm>
          <a:prstGeom prst="roundRect">
            <a:avLst>
              <a:gd name="adj" fmla="val 4043"/>
            </a:avLst>
          </a:prstGeom>
          <a:solidFill>
            <a:srgbClr val="E8F6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150" y="2796629"/>
            <a:ext cx="647700" cy="647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175" y="2996654"/>
            <a:ext cx="24765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533400"/>
            <a:ext cx="2559996" cy="3601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ndara" panose="020E0502030303020204" pitchFamily="34" charset="0"/>
              </a:rPr>
              <a:t>2. Project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3370"/>
            <a:ext cx="402674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Candara" panose="020E0502030303020204" pitchFamily="34" charset="0"/>
              </a:rPr>
              <a:t>Core Research Question Guiding the Spatial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3672929"/>
            <a:ext cx="10953750" cy="10398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sz="1950" b="1" i="0" u="none" dirty="0">
                <a:solidFill>
                  <a:srgbClr val="0369A1"/>
                </a:solidFill>
                <a:latin typeface="Candara" panose="020E0502030303020204" pitchFamily="34" charset="0"/>
              </a:rPr>
              <a:t>"To identify and visualize areas of Kano State where elevated heat and atmospheric pollution indicators overlap, providing a spatial evidence base for environmental monitoring and health-related planning."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6456" y="4941391"/>
            <a:ext cx="649908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Candara" panose="020E0502030303020204" pitchFamily="34" charset="0"/>
              </a:rPr>
              <a:t>SPATIAL EVIDENCE BASE • MULTI-INDICATOR SCREENING • ENVIRONMENTAL DECISION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769511"/>
              </p:ext>
            </p:extLst>
          </p:nvPr>
        </p:nvGraphicFramePr>
        <p:xfrm>
          <a:off x="609600" y="2335410"/>
          <a:ext cx="10972798" cy="3152775"/>
        </p:xfrm>
        <a:graphic>
          <a:graphicData uri="http://schemas.openxmlformats.org/drawingml/2006/table">
            <a:tbl>
              <a:tblPr/>
              <a:tblGrid>
                <a:gridCol w="2714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6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3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59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462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475569"/>
                          </a:solidFill>
                          <a:latin typeface="Candara" panose="020E0502030303020204" pitchFamily="34" charset="0"/>
                        </a:rPr>
                        <a:t>Dataset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475569"/>
                          </a:solidFill>
                          <a:latin typeface="Candara" panose="020E0502030303020204" pitchFamily="34" charset="0"/>
                        </a:rPr>
                        <a:t>Source Platform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475569"/>
                          </a:solidFill>
                          <a:latin typeface="Candara" panose="020E0502030303020204" pitchFamily="34" charset="0"/>
                        </a:rPr>
                        <a:t>Temporal Period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475569"/>
                          </a:solidFill>
                          <a:latin typeface="Candara" panose="020E0502030303020204" pitchFamily="34" charset="0"/>
                        </a:rPr>
                        <a:t>Analytical 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462">
                <a:tc>
                  <a:txBody>
                    <a:bodyPr/>
                    <a:lstStyle/>
                    <a:p>
                      <a:pPr algn="l"/>
                      <a:r>
                        <a:rPr sz="1275" b="1" i="0" u="none" dirty="0">
                          <a:solidFill>
                            <a:srgbClr val="0284C7"/>
                          </a:solidFill>
                          <a:latin typeface="Candara" panose="020E0502030303020204" pitchFamily="34" charset="0"/>
                        </a:rPr>
                        <a:t>Land Surface Temp (LST)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MODIS Terra &amp; Aqua Daily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August 2026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Thermal &amp; Heat Environmental Stress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462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284C7"/>
                          </a:solidFill>
                          <a:latin typeface="Candara" panose="020E0502030303020204" pitchFamily="34" charset="0"/>
                        </a:rPr>
                        <a:t>CO Column Density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Sentinel-5P / TROPOMI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August 2026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Atmospheric Carbon Monoxide Pollution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462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284C7"/>
                          </a:solidFill>
                          <a:latin typeface="Candara" panose="020E0502030303020204" pitchFamily="34" charset="0"/>
                        </a:rPr>
                        <a:t>NO₂ Column Density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Sentinel-5P / TROPOMI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August 2026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Tropospheric Nitrogen Dioxide Pollution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462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284C7"/>
                          </a:solidFill>
                          <a:latin typeface="Candara" panose="020E0502030303020204" pitchFamily="34" charset="0"/>
                        </a:rPr>
                        <a:t>Population Density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GRID3 Nigeria v3.0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2025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Human Exposure &amp; Population Context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46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284C7"/>
                          </a:solidFill>
                          <a:latin typeface="Candara" panose="020E0502030303020204" pitchFamily="34" charset="0"/>
                        </a:rPr>
                        <a:t>Administrative Boundaries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FAO GAUL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2025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Kano State &amp; LGA Reference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533400"/>
            <a:ext cx="2010166" cy="3601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ndara" panose="020E0502030303020204" pitchFamily="34" charset="0"/>
              </a:rPr>
              <a:t>3.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75270"/>
            <a:ext cx="429284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64748B"/>
                </a:solidFill>
                <a:latin typeface="Candara" panose="020E0502030303020204" pitchFamily="34" charset="0"/>
              </a:rPr>
              <a:t>Multi-Sensor Satellite Remote Sensing &amp; Open Data Portals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53600" y="495300"/>
            <a:ext cx="1828800" cy="28575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" y="4534792"/>
            <a:ext cx="10972800" cy="5715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600" y="2561332"/>
            <a:ext cx="2421731" cy="1782960"/>
          </a:xfrm>
          <a:prstGeom prst="roundRect">
            <a:avLst>
              <a:gd name="adj" fmla="val 74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459956" y="2561332"/>
            <a:ext cx="2421731" cy="1782960"/>
          </a:xfrm>
          <a:prstGeom prst="roundRect">
            <a:avLst>
              <a:gd name="adj" fmla="val 74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10312" y="2561332"/>
            <a:ext cx="2421731" cy="1782960"/>
          </a:xfrm>
          <a:prstGeom prst="roundRect">
            <a:avLst>
              <a:gd name="adj" fmla="val 74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160668" y="2561332"/>
            <a:ext cx="2421731" cy="1782960"/>
          </a:xfrm>
          <a:prstGeom prst="roundRect">
            <a:avLst>
              <a:gd name="adj" fmla="val 74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40375" y="4706242"/>
            <a:ext cx="9525" cy="2286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4334767"/>
            <a:ext cx="242173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2561332"/>
            <a:ext cx="2421731" cy="47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" y="2561332"/>
            <a:ext cx="9525" cy="178296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21806" y="2561332"/>
            <a:ext cx="9525" cy="178296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59956" y="4334767"/>
            <a:ext cx="242173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59956" y="2561332"/>
            <a:ext cx="2421731" cy="476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59956" y="2561332"/>
            <a:ext cx="9525" cy="178296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72162" y="2561332"/>
            <a:ext cx="9525" cy="178296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310312" y="4334767"/>
            <a:ext cx="242173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10312" y="2561332"/>
            <a:ext cx="2421731" cy="476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10312" y="2561332"/>
            <a:ext cx="9525" cy="178296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722518" y="2561332"/>
            <a:ext cx="9525" cy="178296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60668" y="4334767"/>
            <a:ext cx="242173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60668" y="2561332"/>
            <a:ext cx="2421731" cy="47625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160668" y="2561332"/>
            <a:ext cx="9525" cy="178296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572875" y="2561332"/>
            <a:ext cx="9525" cy="178296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726233" y="4687192"/>
            <a:ext cx="1724025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545508" y="4687192"/>
            <a:ext cx="100965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373367" y="4687192"/>
            <a:ext cx="2587823" cy="266700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90575" y="2799457"/>
            <a:ext cx="638175" cy="200025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640931" y="2799457"/>
            <a:ext cx="657225" cy="20002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91287" y="2799457"/>
            <a:ext cx="657225" cy="200025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341643" y="2799457"/>
            <a:ext cx="666750" cy="200025"/>
          </a:xfrm>
          <a:prstGeom prst="roundRect">
            <a:avLst>
              <a:gd name="adj" fmla="val 50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950" y="581025"/>
            <a:ext cx="152400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731" y="3371850"/>
            <a:ext cx="123825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4087" y="3371850"/>
            <a:ext cx="123825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4443" y="3371850"/>
            <a:ext cx="123825" cy="190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1281" y="2813744"/>
            <a:ext cx="219075" cy="1714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1637" y="2813744"/>
            <a:ext cx="219075" cy="1714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8668" y="2813744"/>
            <a:ext cx="152400" cy="1714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10925" y="2813744"/>
            <a:ext cx="190500" cy="1714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0058" y="4763392"/>
            <a:ext cx="123825" cy="1333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9333" y="4763392"/>
            <a:ext cx="133350" cy="1333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132759" y="552450"/>
            <a:ext cx="165735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Candara" panose="020E0502030303020204" pitchFamily="34" charset="0"/>
              </a:rPr>
              <a:t>Sequential Workflow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495300"/>
            <a:ext cx="4810291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Candara" panose="020E0502030303020204" pitchFamily="34" charset="0"/>
              </a:rPr>
              <a:t>4. Methodology &amp; Analytical Workflow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" y="876300"/>
            <a:ext cx="377975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Candara" panose="020E0502030303020204" pitchFamily="34" charset="0"/>
              </a:rPr>
              <a:t>End-to-End Google Earth Engine &amp; QGIS Analytical Pipeline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575" y="3113782"/>
            <a:ext cx="165269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Candara" panose="020E0502030303020204" pitchFamily="34" charset="0"/>
              </a:rPr>
              <a:t>Data Acquisition &amp; Scope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575" y="3370957"/>
            <a:ext cx="2155031" cy="756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 dirty="0">
                <a:solidFill>
                  <a:srgbClr val="475569"/>
                </a:solidFill>
                <a:latin typeface="Candara" panose="020E0502030303020204" pitchFamily="34" charset="0"/>
              </a:rPr>
              <a:t>2025 FAO GAUL boundary for Kano State</a:t>
            </a:r>
            <a:r>
              <a:rPr lang="en-US" sz="1050" dirty="0">
                <a:solidFill>
                  <a:srgbClr val="475569"/>
                </a:solidFill>
                <a:latin typeface="Candara" panose="020E0502030303020204" pitchFamily="34" charset="0"/>
              </a:rPr>
              <a:t>.</a:t>
            </a:r>
          </a:p>
          <a:p>
            <a:pPr algn="l">
              <a:lnSpc>
                <a:spcPts val="1522"/>
              </a:lnSpc>
            </a:pPr>
            <a:r>
              <a:rPr sz="1050" b="0" i="0" u="none" dirty="0">
                <a:solidFill>
                  <a:srgbClr val="475569"/>
                </a:solidFill>
                <a:latin typeface="Candara" panose="020E0502030303020204" pitchFamily="34" charset="0"/>
              </a:rPr>
              <a:t>Aug 2026 MODIS LST &amp; Sentinel-5P (CO, NO₂) imagery in GEE.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40931" y="3113782"/>
            <a:ext cx="123271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Candara" panose="020E0502030303020204" pitchFamily="34" charset="0"/>
              </a:rPr>
              <a:t>GEE Preprocessing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40931" y="3370957"/>
            <a:ext cx="2155031" cy="756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 dirty="0">
                <a:solidFill>
                  <a:srgbClr val="475569"/>
                </a:solidFill>
                <a:latin typeface="Candara" panose="020E0502030303020204" pitchFamily="34" charset="0"/>
              </a:rPr>
              <a:t>Average Terra/Aqua daily LST </a:t>
            </a:r>
            <a:r>
              <a:rPr lang="en-US" sz="1050" b="0" i="0" u="none" dirty="0">
                <a:solidFill>
                  <a:srgbClr val="475569"/>
                </a:solidFill>
                <a:latin typeface="Candara" panose="020E0502030303020204" pitchFamily="34" charset="0"/>
              </a:rPr>
              <a:t> and </a:t>
            </a:r>
            <a:r>
              <a:rPr sz="1050" b="0" i="0" u="none" dirty="0">
                <a:solidFill>
                  <a:srgbClr val="475569"/>
                </a:solidFill>
                <a:latin typeface="Candara" panose="020E0502030303020204" pitchFamily="34" charset="0"/>
              </a:rPr>
              <a:t>convert K to °C</a:t>
            </a:r>
            <a:r>
              <a:rPr lang="en-US" sz="1050" dirty="0">
                <a:solidFill>
                  <a:srgbClr val="475569"/>
                </a:solidFill>
                <a:latin typeface="Candara" panose="020E0502030303020204" pitchFamily="34" charset="0"/>
              </a:rPr>
              <a:t>. Then</a:t>
            </a:r>
            <a:r>
              <a:rPr sz="1050" b="0" i="0" u="none" dirty="0">
                <a:solidFill>
                  <a:srgbClr val="475569"/>
                </a:solidFill>
                <a:latin typeface="Candara" panose="020E0502030303020204" pitchFamily="34" charset="0"/>
              </a:rPr>
              <a:t> generate spatial mean column density rasters for NO₂ &amp; CO.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1287" y="3113782"/>
            <a:ext cx="118301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Candara" panose="020E0502030303020204" pitchFamily="34" charset="0"/>
              </a:rPr>
              <a:t>Grid &amp; Percentiles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1287" y="3370957"/>
            <a:ext cx="2155031" cy="756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 dirty="0">
                <a:solidFill>
                  <a:srgbClr val="475569"/>
                </a:solidFill>
                <a:latin typeface="Candara" panose="020E0502030303020204" pitchFamily="34" charset="0"/>
              </a:rPr>
              <a:t>Export rasters to QGIS on a 1-km grid (20,802 cells)</a:t>
            </a:r>
            <a:endParaRPr lang="en-US" sz="1050" b="0" i="0" u="none" dirty="0">
              <a:solidFill>
                <a:srgbClr val="475569"/>
              </a:solidFill>
              <a:latin typeface="Candara" panose="020E0502030303020204" pitchFamily="34" charset="0"/>
            </a:endParaRPr>
          </a:p>
          <a:p>
            <a:pPr algn="l">
              <a:lnSpc>
                <a:spcPts val="1522"/>
              </a:lnSpc>
            </a:pPr>
            <a:r>
              <a:rPr lang="en-US" sz="1050" b="0" i="0" u="none" dirty="0">
                <a:solidFill>
                  <a:srgbClr val="475569"/>
                </a:solidFill>
                <a:latin typeface="Candara" panose="020E0502030303020204" pitchFamily="34" charset="0"/>
              </a:rPr>
              <a:t>C</a:t>
            </a:r>
            <a:r>
              <a:rPr sz="1050" b="0" i="0" u="none" dirty="0">
                <a:solidFill>
                  <a:srgbClr val="475569"/>
                </a:solidFill>
                <a:latin typeface="Candara" panose="020E0502030303020204" pitchFamily="34" charset="0"/>
              </a:rPr>
              <a:t>lassify values ≥75th percentile as elevated binary (1 vs 0).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41643" y="3113782"/>
            <a:ext cx="166071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Candara" panose="020E0502030303020204" pitchFamily="34" charset="0"/>
              </a:rPr>
              <a:t>Compound Index &amp; Maps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41643" y="3370957"/>
            <a:ext cx="2155031" cy="756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 dirty="0">
                <a:solidFill>
                  <a:srgbClr val="475569"/>
                </a:solidFill>
                <a:latin typeface="Candara" panose="020E0502030303020204" pitchFamily="34" charset="0"/>
              </a:rPr>
              <a:t>Sum binary layers into 0–3 Compound Score</a:t>
            </a:r>
            <a:endParaRPr lang="en-US" sz="1050" dirty="0">
              <a:solidFill>
                <a:srgbClr val="475569"/>
              </a:solidFill>
              <a:latin typeface="Candara" panose="020E0502030303020204" pitchFamily="34" charset="0"/>
            </a:endParaRPr>
          </a:p>
          <a:p>
            <a:pPr algn="l">
              <a:lnSpc>
                <a:spcPts val="1522"/>
              </a:lnSpc>
            </a:pPr>
            <a:r>
              <a:rPr lang="en-US" sz="1050" b="0" i="0" u="none" dirty="0">
                <a:solidFill>
                  <a:srgbClr val="475569"/>
                </a:solidFill>
                <a:latin typeface="Candara" panose="020E0502030303020204" pitchFamily="34" charset="0"/>
              </a:rPr>
              <a:t>O</a:t>
            </a:r>
            <a:r>
              <a:rPr sz="1050" b="0" i="0" u="none" dirty="0">
                <a:solidFill>
                  <a:srgbClr val="475569"/>
                </a:solidFill>
                <a:latin typeface="Candara" panose="020E0502030303020204" pitchFamily="34" charset="0"/>
              </a:rPr>
              <a:t>verlay GRID3 population &amp; finalize cartographic layouts.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0808" y="4744342"/>
            <a:ext cx="1234312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Candara" panose="020E0502030303020204" pitchFamily="34" charset="0"/>
              </a:rPr>
              <a:t>PRIMARY PLATFORMS: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37175" y="4725292"/>
            <a:ext cx="159067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F172A"/>
                </a:solidFill>
                <a:latin typeface="Candara" panose="020E0502030303020204" pitchFamily="34" charset="0"/>
              </a:rPr>
              <a:t>Google Earth Engine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85948" y="4725292"/>
            <a:ext cx="8763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F172A"/>
                </a:solidFill>
                <a:latin typeface="Candara" panose="020E0502030303020204" pitchFamily="34" charset="0"/>
              </a:rPr>
              <a:t>QGIS 3.x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5117" y="4744342"/>
            <a:ext cx="1027525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Candara" panose="020E0502030303020204" pitchFamily="34" charset="0"/>
              </a:rPr>
              <a:t>STATISTICAL RULE: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7667" y="4725292"/>
            <a:ext cx="2454473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92400E"/>
                </a:solidFill>
                <a:latin typeface="Candara" panose="020E0502030303020204" pitchFamily="34" charset="0"/>
              </a:rPr>
              <a:t>≥75th Percentile = Elevated Stressor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5825" y="2828032"/>
            <a:ext cx="5429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Candara" panose="020E0502030303020204" pitchFamily="34" charset="0"/>
              </a:rPr>
              <a:t>STAGE 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36181" y="2828032"/>
            <a:ext cx="5619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Candara" panose="020E0502030303020204" pitchFamily="34" charset="0"/>
              </a:rPr>
              <a:t>STAGE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6537" y="2828032"/>
            <a:ext cx="5619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Candara" panose="020E0502030303020204" pitchFamily="34" charset="0"/>
              </a:rPr>
              <a:t>STAGE 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36893" y="2828032"/>
            <a:ext cx="571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Candara" panose="020E0502030303020204" pitchFamily="34" charset="0"/>
              </a:rPr>
              <a:t>STAGE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69635" y="6013102"/>
            <a:ext cx="1466850" cy="285750"/>
          </a:xfrm>
          <a:prstGeom prst="roundRect">
            <a:avLst>
              <a:gd name="adj" fmla="val 26666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0" y="2310258"/>
            <a:ext cx="4840485" cy="1500187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6000" y="4000946"/>
            <a:ext cx="4840485" cy="1257300"/>
          </a:xfrm>
          <a:prstGeom prst="roundRect">
            <a:avLst>
              <a:gd name="adj" fmla="val 9090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0" y="2310258"/>
            <a:ext cx="47625" cy="1500187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83935" y="6080084"/>
            <a:ext cx="13335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2410C"/>
                </a:solidFill>
                <a:latin typeface="Candara" panose="020E0502030303020204" pitchFamily="34" charset="0"/>
              </a:rPr>
              <a:t>Indicator Map 1 of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359246"/>
            <a:ext cx="5820683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 dirty="0">
                <a:solidFill>
                  <a:srgbClr val="0F172A"/>
                </a:solidFill>
                <a:latin typeface="Candara" panose="020E0502030303020204" pitchFamily="34" charset="0"/>
              </a:rPr>
              <a:t>5. Storytelling &amp; Maps: Land Surface Temp (LST)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717326"/>
            <a:ext cx="352551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Candara" panose="020E0502030303020204" pitchFamily="34" charset="0"/>
              </a:rPr>
              <a:t>MODIS Terra &amp; Aqua Daily Observations (August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2225" y="2538858"/>
            <a:ext cx="270939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Candara" panose="020E0502030303020204" pitchFamily="34" charset="0"/>
              </a:rPr>
              <a:t>Thermal Variability &amp; Heat Stress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2225" y="2853183"/>
            <a:ext cx="443091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Candara" panose="020E0502030303020204" pitchFamily="34" charset="0"/>
              </a:rPr>
              <a:t>LST shows widespread spatial variation across Kano State, with elevated thermal patches occurring in built-up urban centers and sparsely vegetated rural zones.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6025" y="4200971"/>
            <a:ext cx="285013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C2410C"/>
                </a:solidFill>
                <a:latin typeface="Candara" panose="020E0502030303020204" pitchFamily="34" charset="0"/>
              </a:rPr>
              <a:t>Cartographic Insight &amp; Storytelling Caption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6025" y="4458146"/>
            <a:ext cx="453568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 dirty="0">
                <a:solidFill>
                  <a:srgbClr val="9A3412"/>
                </a:solidFill>
                <a:latin typeface="Candara" panose="020E0502030303020204" pitchFamily="34" charset="0"/>
              </a:rPr>
              <a:t>Thermal Footprint:</a:t>
            </a:r>
            <a:r>
              <a:rPr sz="1125" b="0" i="0" u="none" dirty="0">
                <a:solidFill>
                  <a:srgbClr val="9A3412"/>
                </a:solidFill>
                <a:latin typeface="Candara" panose="020E0502030303020204" pitchFamily="34" charset="0"/>
              </a:rPr>
              <a:t> August daytime temperatures reflect distinct microclimates, where dense built structures trap surface heat compared to irrigated agrarian belts.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147C02-4362-3809-079F-75E87F9A8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58" y="0"/>
            <a:ext cx="484968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50585" y="6092837"/>
            <a:ext cx="1485900" cy="285750"/>
          </a:xfrm>
          <a:prstGeom prst="roundRect">
            <a:avLst>
              <a:gd name="adj" fmla="val 26666"/>
            </a:avLst>
          </a:prstGeom>
          <a:solidFill>
            <a:srgbClr val="FEE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0" y="2188815"/>
            <a:ext cx="4840485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6000" y="4122390"/>
            <a:ext cx="4840485" cy="1257300"/>
          </a:xfrm>
          <a:prstGeom prst="roundRect">
            <a:avLst>
              <a:gd name="adj" fmla="val 9090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0" y="2188815"/>
            <a:ext cx="47625" cy="17430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64885" y="6149987"/>
            <a:ext cx="135255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B45309"/>
                </a:solidFill>
                <a:latin typeface="Candara" panose="020E0502030303020204" pitchFamily="34" charset="0"/>
              </a:rPr>
              <a:t>Indicator Map 2 of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376573"/>
            <a:ext cx="5323573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0F172A"/>
                </a:solidFill>
                <a:latin typeface="Candara" panose="020E0502030303020204" pitchFamily="34" charset="0"/>
              </a:rPr>
              <a:t>..</a:t>
            </a:r>
            <a:r>
              <a:rPr sz="2100" b="1" i="0" u="none" dirty="0">
                <a:solidFill>
                  <a:srgbClr val="0F172A"/>
                </a:solidFill>
                <a:latin typeface="Candara" panose="020E0502030303020204" pitchFamily="34" charset="0"/>
              </a:rPr>
              <a:t>. Storytelling &amp; Maps: Carbon Monoxide (CO)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734653"/>
            <a:ext cx="387926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Candara" panose="020E0502030303020204" pitchFamily="34" charset="0"/>
              </a:rPr>
              <a:t>Sentinel-5P / TROPOMI Satellite Observations (August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2225" y="2417415"/>
            <a:ext cx="251030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Candara" panose="020E0502030303020204" pitchFamily="34" charset="0"/>
              </a:rPr>
              <a:t>Broad Atmospheric Dispersion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2225" y="2731740"/>
            <a:ext cx="4430910" cy="713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Candara" panose="020E0502030303020204" pitchFamily="34" charset="0"/>
              </a:rPr>
              <a:t>CO displays broader, continuous geographic areas of elevated values. Notable spatial concentrations span central Kano and extend along major transportation corridors.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6025" y="4322415"/>
            <a:ext cx="285013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2400E"/>
                </a:solidFill>
                <a:latin typeface="Candara" panose="020E0502030303020204" pitchFamily="34" charset="0"/>
              </a:rPr>
              <a:t>Cartographic Insight &amp; Storytelling Caption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6025" y="4579590"/>
            <a:ext cx="453568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125" b="1" i="0" u="none" dirty="0">
                <a:solidFill>
                  <a:srgbClr val="78350F"/>
                </a:solidFill>
                <a:latin typeface="Candara" panose="020E0502030303020204" pitchFamily="34" charset="0"/>
              </a:rPr>
              <a:t>Atmospheric Residence:</a:t>
            </a:r>
            <a:r>
              <a:rPr sz="1125" b="0" i="0" u="none" dirty="0">
                <a:solidFill>
                  <a:srgbClr val="78350F"/>
                </a:solidFill>
                <a:latin typeface="Candara" panose="020E0502030303020204" pitchFamily="34" charset="0"/>
              </a:rPr>
              <a:t> Longer atmospheric lifespan causes carbon monoxide to spread regional pollution plumes across central and neighboring local government areas.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CA9A1B1-E47C-DD86-AEF8-4BE83772E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0" y="0"/>
            <a:ext cx="484968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41060" y="6201514"/>
            <a:ext cx="1495425" cy="285750"/>
          </a:xfrm>
          <a:prstGeom prst="roundRect">
            <a:avLst>
              <a:gd name="adj" fmla="val 2666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0" y="2204701"/>
            <a:ext cx="4840485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6000" y="4138276"/>
            <a:ext cx="4840485" cy="1257300"/>
          </a:xfrm>
          <a:prstGeom prst="roundRect">
            <a:avLst>
              <a:gd name="adj" fmla="val 909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0" y="2204701"/>
            <a:ext cx="47625" cy="17430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55360" y="6258664"/>
            <a:ext cx="136207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Candara" panose="020E0502030303020204" pitchFamily="34" charset="0"/>
              </a:rPr>
              <a:t>Indicator Map 3 of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322619"/>
            <a:ext cx="6127033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0F172A"/>
                </a:solidFill>
                <a:latin typeface="Candara" panose="020E0502030303020204" pitchFamily="34" charset="0"/>
              </a:rPr>
              <a:t>..</a:t>
            </a:r>
            <a:r>
              <a:rPr sz="2100" b="1" i="0" u="none" dirty="0">
                <a:solidFill>
                  <a:srgbClr val="0F172A"/>
                </a:solidFill>
                <a:latin typeface="Candara" panose="020E0502030303020204" pitchFamily="34" charset="0"/>
              </a:rPr>
              <a:t>. Storytelling &amp; Maps: Nitrogen Dioxide (NO₂)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680699"/>
            <a:ext cx="583526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Candara" panose="020E0502030303020204" pitchFamily="34" charset="0"/>
              </a:rPr>
              <a:t>Sentinel-5P / TROPOMI Tropospheric Column Density (August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2225" y="2433301"/>
            <a:ext cx="268663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Candara" panose="020E0502030303020204" pitchFamily="34" charset="0"/>
              </a:rPr>
              <a:t>Localized Urban Hotspot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2225" y="2747626"/>
            <a:ext cx="4430910" cy="713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Candara" panose="020E0502030303020204" pitchFamily="34" charset="0"/>
              </a:rPr>
              <a:t>Unlike LST or CO, tropospheric NO₂ displays a strictly localized hotspot centered over highly urbanized metropolitan Kano (Fagge, Dala, </a:t>
            </a:r>
            <a:r>
              <a:rPr sz="1275" b="0" i="0" u="none" dirty="0" err="1">
                <a:solidFill>
                  <a:srgbClr val="334155"/>
                </a:solidFill>
                <a:latin typeface="Candara" panose="020E0502030303020204" pitchFamily="34" charset="0"/>
              </a:rPr>
              <a:t>Gwale</a:t>
            </a:r>
            <a:r>
              <a:rPr sz="1275" b="0" i="0" u="none" dirty="0">
                <a:solidFill>
                  <a:srgbClr val="334155"/>
                </a:solidFill>
                <a:latin typeface="Candara" panose="020E0502030303020204" pitchFamily="34" charset="0"/>
              </a:rPr>
              <a:t>, </a:t>
            </a:r>
            <a:r>
              <a:rPr sz="1275" b="0" i="0" u="none" dirty="0" err="1">
                <a:solidFill>
                  <a:srgbClr val="334155"/>
                </a:solidFill>
                <a:latin typeface="Candara" panose="020E0502030303020204" pitchFamily="34" charset="0"/>
              </a:rPr>
              <a:t>Nassarawa</a:t>
            </a:r>
            <a:r>
              <a:rPr sz="1275" b="0" i="0" u="none" dirty="0">
                <a:solidFill>
                  <a:srgbClr val="334155"/>
                </a:solidFill>
                <a:latin typeface="Candara" panose="020E0502030303020204" pitchFamily="34" charset="0"/>
              </a:rPr>
              <a:t>, </a:t>
            </a:r>
            <a:r>
              <a:rPr sz="1275" b="0" i="0" u="none" dirty="0" err="1">
                <a:solidFill>
                  <a:srgbClr val="334155"/>
                </a:solidFill>
                <a:latin typeface="Candara" panose="020E0502030303020204" pitchFamily="34" charset="0"/>
              </a:rPr>
              <a:t>Tarauni</a:t>
            </a:r>
            <a:r>
              <a:rPr sz="1275" b="0" i="0" u="none" dirty="0">
                <a:solidFill>
                  <a:srgbClr val="334155"/>
                </a:solidFill>
                <a:latin typeface="Candara" panose="020E0502030303020204" pitchFamily="34" charset="0"/>
              </a:rPr>
              <a:t>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6025" y="4338301"/>
            <a:ext cx="285013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Candara" panose="020E0502030303020204" pitchFamily="34" charset="0"/>
              </a:rPr>
              <a:t>Cartographic Insight &amp; Storytelling Caption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6025" y="4595476"/>
            <a:ext cx="453568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 dirty="0">
                <a:solidFill>
                  <a:srgbClr val="166534"/>
                </a:solidFill>
                <a:latin typeface="Candara" panose="020E0502030303020204" pitchFamily="34" charset="0"/>
              </a:rPr>
              <a:t>Anthropogenic Driver:</a:t>
            </a:r>
            <a:r>
              <a:rPr sz="1125" b="0" i="0" u="none" dirty="0">
                <a:solidFill>
                  <a:srgbClr val="166534"/>
                </a:solidFill>
                <a:latin typeface="Candara" panose="020E0502030303020204" pitchFamily="34" charset="0"/>
              </a:rPr>
              <a:t> Sharp spatial concentration gradient directly reflects intense vehicular combustion, industrial emissions, and commercial activity in the urban core.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6D97E9-CE18-E354-5F16-FF2A8C87A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15" y="0"/>
            <a:ext cx="484968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61896" y="5992761"/>
            <a:ext cx="1628775" cy="285750"/>
          </a:xfrm>
          <a:prstGeom prst="roundRect">
            <a:avLst>
              <a:gd name="adj" fmla="val 26666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0" y="4273314"/>
            <a:ext cx="5070871" cy="985837"/>
          </a:xfrm>
          <a:prstGeom prst="roundRect">
            <a:avLst>
              <a:gd name="adj" fmla="val 115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0" y="4273314"/>
            <a:ext cx="38100" cy="985837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579627"/>
              </p:ext>
            </p:extLst>
          </p:nvPr>
        </p:nvGraphicFramePr>
        <p:xfrm>
          <a:off x="6096000" y="2177814"/>
          <a:ext cx="5070870" cy="1905000"/>
        </p:xfrm>
        <a:graphic>
          <a:graphicData uri="http://schemas.openxmlformats.org/drawingml/2006/table">
            <a:tbl>
              <a:tblPr/>
              <a:tblGrid>
                <a:gridCol w="300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Candara" panose="020E0502030303020204" pitchFamily="34" charset="0"/>
                        </a:rPr>
                        <a:t>Compound 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Candara" panose="020E0502030303020204" pitchFamily="34" charset="0"/>
                        </a:rPr>
                        <a:t>Grid Cells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Candara" panose="020E0502030303020204" pitchFamily="34" charset="0"/>
                        </a:rPr>
                        <a:t>Share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0 — No Elevated Indicator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10,843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52.1%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1 — One Elevated Indicator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5,776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27.8%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2 — Two Elevated Indicators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2,912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E293B"/>
                          </a:solidFill>
                          <a:latin typeface="Candara" panose="020E0502030303020204" pitchFamily="34" charset="0"/>
                        </a:rPr>
                        <a:t>14.0%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BE123C"/>
                          </a:solidFill>
                          <a:latin typeface="Candara" panose="020E0502030303020204" pitchFamily="34" charset="0"/>
                        </a:rPr>
                        <a:t>3 — Three Elevated Indicators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BE123C"/>
                          </a:solidFill>
                          <a:latin typeface="Candara" panose="020E0502030303020204" pitchFamily="34" charset="0"/>
                        </a:rPr>
                        <a:t>1,271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BE123C"/>
                          </a:solidFill>
                          <a:latin typeface="Candara" panose="020E0502030303020204" pitchFamily="34" charset="0"/>
                        </a:rPr>
                        <a:t>6.1%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76196" y="6049911"/>
            <a:ext cx="149542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E185D"/>
                </a:solidFill>
                <a:latin typeface="Candara" panose="020E0502030303020204" pitchFamily="34" charset="0"/>
              </a:rPr>
              <a:t>Compound Map 4 of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419499"/>
            <a:ext cx="6057901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0F172A"/>
                </a:solidFill>
                <a:latin typeface="Candara" panose="020E0502030303020204" pitchFamily="34" charset="0"/>
              </a:rPr>
              <a:t>..</a:t>
            </a:r>
            <a:r>
              <a:rPr sz="2100" b="1" i="0" u="none" dirty="0">
                <a:solidFill>
                  <a:srgbClr val="0F172A"/>
                </a:solidFill>
                <a:latin typeface="Candara" panose="020E0502030303020204" pitchFamily="34" charset="0"/>
              </a:rPr>
              <a:t>. Storytelling &amp; Maps: Compound Exposure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777579"/>
            <a:ext cx="576943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Candara" panose="020E0502030303020204" pitchFamily="34" charset="0"/>
              </a:rPr>
              <a:t>Multi-Indicator Overlap Score (0 to 3 Elevated Stressors)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5550" y="4444764"/>
            <a:ext cx="4785121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334155"/>
                </a:solidFill>
                <a:latin typeface="Candara" panose="020E0502030303020204" pitchFamily="34" charset="0"/>
              </a:rPr>
              <a:t>Key Finding:</a:t>
            </a:r>
            <a:r>
              <a:rPr sz="1125" b="0" i="0" u="none" dirty="0">
                <a:solidFill>
                  <a:srgbClr val="334155"/>
                </a:solidFill>
                <a:latin typeface="Candara" panose="020E0502030303020204" pitchFamily="34" charset="0"/>
              </a:rPr>
              <a:t> </a:t>
            </a:r>
            <a:r>
              <a:rPr sz="1125" b="1" i="0" u="none" dirty="0">
                <a:solidFill>
                  <a:srgbClr val="334155"/>
                </a:solidFill>
                <a:latin typeface="Candara" panose="020E0502030303020204" pitchFamily="34" charset="0"/>
              </a:rPr>
              <a:t>47.9%</a:t>
            </a:r>
            <a:r>
              <a:rPr sz="1125" b="0" i="0" u="none" dirty="0">
                <a:solidFill>
                  <a:srgbClr val="334155"/>
                </a:solidFill>
                <a:latin typeface="Candara" panose="020E0502030303020204" pitchFamily="34" charset="0"/>
              </a:rPr>
              <a:t> of analyzed grid cells experience at least one elevated stressor, while </a:t>
            </a:r>
            <a:r>
              <a:rPr sz="1125" b="1" i="0" u="none" dirty="0">
                <a:solidFill>
                  <a:srgbClr val="334155"/>
                </a:solidFill>
                <a:latin typeface="Candara" panose="020E0502030303020204" pitchFamily="34" charset="0"/>
              </a:rPr>
              <a:t>20.1%</a:t>
            </a:r>
            <a:r>
              <a:rPr sz="1125" b="0" i="0" u="none" dirty="0">
                <a:solidFill>
                  <a:srgbClr val="334155"/>
                </a:solidFill>
                <a:latin typeface="Candara" panose="020E0502030303020204" pitchFamily="34" charset="0"/>
              </a:rPr>
              <a:t> (4,183 km²) suffer compounding dual or triple environmental exposure.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7FBC2F8-4B2A-18AB-1958-360768E0A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0"/>
            <a:ext cx="484968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597513" y="6169742"/>
            <a:ext cx="1609725" cy="285750"/>
          </a:xfrm>
          <a:prstGeom prst="roundRect">
            <a:avLst>
              <a:gd name="adj" fmla="val 2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136367" y="2252171"/>
            <a:ext cx="5070871" cy="1500187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36367" y="3942859"/>
            <a:ext cx="5070871" cy="1257300"/>
          </a:xfrm>
          <a:prstGeom prst="roundRect">
            <a:avLst>
              <a:gd name="adj" fmla="val 909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26535" y="2252171"/>
            <a:ext cx="47625" cy="150018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30863" y="6226892"/>
            <a:ext cx="147637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369A1"/>
                </a:solidFill>
                <a:latin typeface="Candara" panose="020E0502030303020204" pitchFamily="34" charset="0"/>
              </a:rPr>
              <a:t>Population Map 5 of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4160" y="402508"/>
            <a:ext cx="5285101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0F172A"/>
                </a:solidFill>
                <a:latin typeface="Candara" panose="020E0502030303020204" pitchFamily="34" charset="0"/>
              </a:rPr>
              <a:t>..</a:t>
            </a:r>
            <a:r>
              <a:rPr sz="2100" b="1" i="0" u="none" dirty="0">
                <a:solidFill>
                  <a:srgbClr val="0F172A"/>
                </a:solidFill>
                <a:latin typeface="Candara" panose="020E0502030303020204" pitchFamily="34" charset="0"/>
              </a:rPr>
              <a:t>. Storytelling &amp; Maps: Hotspots &amp; Population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4160" y="770425"/>
            <a:ext cx="315951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Candara" panose="020E0502030303020204" pitchFamily="34" charset="0"/>
              </a:rPr>
              <a:t>GRID3 Nigeria Population v3.0 (2025)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6754" y="2480480"/>
            <a:ext cx="243977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Candara" panose="020E0502030303020204" pitchFamily="34" charset="0"/>
              </a:rPr>
              <a:t>Human Exposure Intersection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2760" y="2795096"/>
            <a:ext cx="4661296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Candara" panose="020E0502030303020204" pitchFamily="34" charset="0"/>
              </a:rPr>
              <a:t>Integrating GRID3 population grid reveals that high compound exposure scores (2–3) directly coincide with the highest population densities in central Kano LGAs.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0554" y="4142593"/>
            <a:ext cx="152125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369A1"/>
                </a:solidFill>
                <a:latin typeface="Candara" panose="020E0502030303020204" pitchFamily="34" charset="0"/>
              </a:rPr>
              <a:t>Actionable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6560" y="4400059"/>
            <a:ext cx="4766071" cy="3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0C4A6E"/>
                </a:solidFill>
                <a:latin typeface="Candara" panose="020E0502030303020204" pitchFamily="34" charset="0"/>
              </a:rPr>
              <a:t>Priority Intervention:</a:t>
            </a:r>
            <a:r>
              <a:rPr sz="1125" b="0" i="0" u="none">
                <a:solidFill>
                  <a:srgbClr val="0C4A6E"/>
                </a:solidFill>
                <a:latin typeface="Candara" panose="020E0502030303020204" pitchFamily="34" charset="0"/>
              </a:rPr>
              <a:t> Densely populated urban centers face disproportionate burden, guiding targeted public health resource allocation and urban greening.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7C3C3DC-C061-159E-FE62-F54F87A81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51" y="0"/>
            <a:ext cx="484968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57225" y="2095500"/>
            <a:ext cx="5372100" cy="133350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57925" y="2095500"/>
            <a:ext cx="5372100" cy="13335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7225" y="2095500"/>
            <a:ext cx="47625" cy="13335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57925" y="2095500"/>
            <a:ext cx="47625" cy="1333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533400"/>
            <a:ext cx="4904356" cy="3601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0F172A"/>
                </a:solidFill>
                <a:latin typeface="Candara" panose="020E0502030303020204" pitchFamily="34" charset="0"/>
              </a:rPr>
              <a:t>..</a:t>
            </a:r>
            <a:r>
              <a:rPr sz="2400" b="1" i="0" u="none" dirty="0">
                <a:solidFill>
                  <a:srgbClr val="0F172A"/>
                </a:solidFill>
                <a:latin typeface="Candara" panose="020E0502030303020204" pitchFamily="34" charset="0"/>
              </a:rPr>
              <a:t>. Storytelling &amp; Strategic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75270"/>
            <a:ext cx="506004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64748B"/>
                </a:solidFill>
                <a:latin typeface="Candara" panose="020E0502030303020204" pitchFamily="34" charset="0"/>
              </a:rPr>
              <a:t>Synthesizing Spatial Overlap Analysis into Technical &amp; Policy Guidance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2286000"/>
            <a:ext cx="1529265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5803D"/>
                </a:solidFill>
                <a:latin typeface="Candara" panose="020E0502030303020204" pitchFamily="34" charset="0"/>
              </a:rPr>
              <a:t>Strategic Action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2552700"/>
            <a:ext cx="50387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166534"/>
                </a:solidFill>
                <a:latin typeface="Candara" panose="020E0502030303020204" pitchFamily="34" charset="0"/>
              </a:rPr>
              <a:t>These locations warrant attention for further environmental and health assessment because multiple environmental exposure indicators are simultaneously elevated.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6050" y="2286000"/>
            <a:ext cx="1481175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C2410C"/>
                </a:solidFill>
                <a:latin typeface="Candara" panose="020E0502030303020204" pitchFamily="34" charset="0"/>
              </a:rPr>
              <a:t>Methodological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6050" y="2552700"/>
            <a:ext cx="50387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A3412"/>
                </a:solidFill>
                <a:latin typeface="Candara" panose="020E0502030303020204" pitchFamily="34" charset="0"/>
              </a:rPr>
              <a:t>The compound score represents spatial overlap of satellite indicators — not a direct medical risk index. Ground monitoring is recommended for clinical validation.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900237" y="4119562"/>
            <a:ext cx="8391525" cy="504825"/>
          </a:xfrm>
          <a:prstGeom prst="roundRect">
            <a:avLst>
              <a:gd name="adj" fmla="val 2264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050" y="1890712"/>
            <a:ext cx="723900" cy="723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00262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50709" y="2843212"/>
            <a:ext cx="1890581" cy="5078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300" b="1" i="0" u="none" dirty="0">
                <a:solidFill>
                  <a:srgbClr val="FFFFFF"/>
                </a:solidFill>
                <a:latin typeface="Candara" panose="020E0502030303020204" pitchFamily="34" charset="0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8458" y="3529012"/>
            <a:ext cx="5915081" cy="271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Candara" panose="020E0502030303020204" pitchFamily="34" charset="0"/>
              </a:rPr>
              <a:t>Spatial Evidence Base for Environmental &amp; Public Health Decision-Making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4086" y="4281487"/>
            <a:ext cx="233557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Candara" panose="020E0502030303020204" pitchFamily="34" charset="0"/>
              </a:rPr>
              <a:t>Community ID: </a:t>
            </a:r>
            <a:r>
              <a:rPr sz="1125" b="1" i="0" u="none">
                <a:solidFill>
                  <a:srgbClr val="38BDF8"/>
                </a:solidFill>
                <a:latin typeface="Candara" panose="020E0502030303020204" pitchFamily="34" charset="0"/>
              </a:rPr>
              <a:t>DSN/AIPlus/2025/45616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6698" y="4281487"/>
            <a:ext cx="9457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Candara" panose="020E0502030303020204" pitchFamily="34" charset="0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5598" y="4281487"/>
            <a:ext cx="9457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Candara" panose="020E0502030303020204" pitchFamily="34" charset="0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4798" y="4281487"/>
            <a:ext cx="1455527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64748B"/>
                </a:solidFill>
                <a:latin typeface="Candara" panose="020E0502030303020204" pitchFamily="34" charset="0"/>
              </a:rPr>
              <a:t>Track: </a:t>
            </a:r>
            <a:r>
              <a:rPr sz="1125" b="1" i="0" u="none" dirty="0">
                <a:solidFill>
                  <a:srgbClr val="64748B"/>
                </a:solidFill>
                <a:latin typeface="Candara" panose="020E0502030303020204" pitchFamily="34" charset="0"/>
              </a:rPr>
              <a:t>Geospatial 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990</Words>
  <Application>Microsoft Office PowerPoint</Application>
  <PresentationFormat>Widescreen</PresentationFormat>
  <Paragraphs>132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Candara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HomePC</dc:creator>
  <cp:keywords/>
  <dc:description>generated using python-pptx</dc:description>
  <cp:lastModifiedBy>Abdul Basit</cp:lastModifiedBy>
  <cp:revision>8</cp:revision>
  <dcterms:created xsi:type="dcterms:W3CDTF">2013-01-27T09:14:16Z</dcterms:created>
  <dcterms:modified xsi:type="dcterms:W3CDTF">2026-10-17T13:27:26Z</dcterms:modified>
  <cp:category/>
</cp:coreProperties>
</file>